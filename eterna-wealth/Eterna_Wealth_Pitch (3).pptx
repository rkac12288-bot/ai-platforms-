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rkac12288-bot.github.io/AI-Platforms-/eterna-wealth/" TargetMode="Externa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011680"/>
            <a:ext cx="5486400" cy="5486400"/>
          </a:xfrm>
          <a:prstGeom prst="ellipse">
            <a:avLst/>
          </a:prstGeom>
          <a:solidFill>
            <a:srgbClr val="2D4468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023360"/>
            <a:ext cx="4114800" cy="4114800"/>
          </a:xfrm>
          <a:prstGeom prst="ellipse">
            <a:avLst/>
          </a:prstGeom>
          <a:solidFill>
            <a:srgbClr val="2D4468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25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 · WEALTH INTELLIGENCE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8961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Portfolio That</a:t>
            </a:r>
            <a:endParaRPr lang="en-US" sz="54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Explains Itself.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411480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number and it tells you what it means, why it matters, and the one thing to do next.</a:t>
            </a:r>
            <a:endParaRPr lang="en-US" sz="16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49240"/>
            <a:ext cx="292608" cy="2926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34440" y="53492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Investor &amp; Board Pitch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446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every number on your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could tell you what to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about it?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47548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Right now, answering that takes an analyst in the room. That doesn't scale.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This is the Executive Cockpit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1929384" y="1152144"/>
            <a:ext cx="8302752" cy="5216652"/>
          </a:xfrm>
          <a:prstGeom prst="roundRect">
            <a:avLst>
              <a:gd name="adj" fmla="val 1052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188720"/>
            <a:ext cx="8229600" cy="5143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6510528"/>
            <a:ext cx="9418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screen opens with a plain-English analyst briefing — not a wall of numbers. This is the real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Click a number — get the story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2344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Whatever you click, the story has the same four-part shape — building from meaning to action.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822960" y="21945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78992" y="2487168"/>
            <a:ext cx="658368" cy="658368"/>
          </a:xfrm>
          <a:prstGeom prst="ellipse">
            <a:avLst/>
          </a:prstGeom>
          <a:solidFill>
            <a:srgbClr val="22B8A8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3584" y="2651760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67919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078992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1078992" y="3931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English, in context. No jargon.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520440" y="21945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776472" y="2487168"/>
            <a:ext cx="658368" cy="658368"/>
          </a:xfrm>
          <a:prstGeom prst="ellipse">
            <a:avLst/>
          </a:prstGeom>
          <a:solidFill>
            <a:srgbClr val="4A8AE0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1064" y="2651760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37667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 txBox="1"/>
          <p:nvPr/>
        </p:nvSpPr>
        <p:spPr>
          <a:xfrm>
            <a:off x="3776472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50" dirty="0"/>
          </a:p>
        </p:txBody>
      </p:sp>
      <p:sp>
        <p:nvSpPr>
          <p:cNvPr id="17" name="Text 13"/>
          <p:cNvSpPr txBox="1"/>
          <p:nvPr/>
        </p:nvSpPr>
        <p:spPr>
          <a:xfrm>
            <a:off x="3776472" y="3931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stakes — a mandate, a limit, a gap.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21945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473952" y="2487168"/>
            <a:ext cx="658368" cy="658368"/>
          </a:xfrm>
          <a:prstGeom prst="ellipse">
            <a:avLst/>
          </a:prstGeom>
          <a:solidFill>
            <a:srgbClr val="C8A24A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2651760"/>
            <a:ext cx="329184" cy="32918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07415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7"/>
          <p:cNvSpPr txBox="1"/>
          <p:nvPr/>
        </p:nvSpPr>
        <p:spPr>
          <a:xfrm>
            <a:off x="6473952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driving it</a:t>
            </a:r>
            <a:endParaRPr lang="en-US" sz="1450" dirty="0"/>
          </a:p>
        </p:txBody>
      </p:sp>
      <p:sp>
        <p:nvSpPr>
          <p:cNvPr id="23" name="Text 18"/>
          <p:cNvSpPr txBox="1"/>
          <p:nvPr/>
        </p:nvSpPr>
        <p:spPr>
          <a:xfrm>
            <a:off x="6473952" y="3931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exact holdings responsible, named.</a:t>
            </a:r>
            <a:endParaRPr lang="en-US" sz="1100" dirty="0"/>
          </a:p>
        </p:txBody>
      </p:sp>
      <p:sp>
        <p:nvSpPr>
          <p:cNvPr id="24" name="Shape 19"/>
          <p:cNvSpPr/>
          <p:nvPr/>
        </p:nvSpPr>
        <p:spPr>
          <a:xfrm>
            <a:off x="8915400" y="2194560"/>
            <a:ext cx="2514600" cy="2377440"/>
          </a:xfrm>
          <a:prstGeom prst="roundRect">
            <a:avLst>
              <a:gd name="adj" fmla="val 3462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9171432" y="2487168"/>
            <a:ext cx="658368" cy="658368"/>
          </a:xfrm>
          <a:prstGeom prst="ellipse">
            <a:avLst/>
          </a:prstGeom>
          <a:solidFill>
            <a:srgbClr val="D9565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36024" y="2651760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0771632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E8E4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2"/>
          <p:cNvSpPr txBox="1"/>
          <p:nvPr/>
        </p:nvSpPr>
        <p:spPr>
          <a:xfrm>
            <a:off x="9171432" y="33375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5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action that moves it</a:t>
            </a:r>
            <a:endParaRPr lang="en-US" sz="1450" dirty="0"/>
          </a:p>
        </p:txBody>
      </p:sp>
      <p:sp>
        <p:nvSpPr>
          <p:cNvPr id="29" name="Text 23"/>
          <p:cNvSpPr txBox="1"/>
          <p:nvPr/>
        </p:nvSpPr>
        <p:spPr>
          <a:xfrm>
            <a:off x="9171432" y="3931920"/>
            <a:ext cx="2057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single next step, spelled out.</a:t>
            </a:r>
            <a:endParaRPr lang="en-US" sz="1100" dirty="0"/>
          </a:p>
        </p:txBody>
      </p:sp>
      <p:sp>
        <p:nvSpPr>
          <p:cNvPr id="30" name="Text 24"/>
          <p:cNvSpPr txBox="1"/>
          <p:nvPr/>
        </p:nvSpPr>
        <p:spPr>
          <a:xfrm>
            <a:off x="822960" y="5029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A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never just shows you the number. It tells you what to do about it — and every story ends in a decision.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portfolio, four lenses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789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reframes the entire platform for whoever's in the room.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1828800"/>
            <a:ext cx="2560320" cy="3611880"/>
          </a:xfrm>
          <a:prstGeom prst="roundRect">
            <a:avLst>
              <a:gd name="adj" fmla="val 3214"/>
            </a:avLst>
          </a:prstGeom>
          <a:solidFill>
            <a:srgbClr val="3A2D1A"/>
          </a:solidFill>
          <a:ln/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1078992" y="21031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1078992" y="288036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technical platform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379476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metric, every tool — the complete analyst workspace.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566160" y="1828800"/>
            <a:ext cx="2560320" cy="3611880"/>
          </a:xfrm>
          <a:prstGeom prst="roundRect">
            <a:avLst>
              <a:gd name="adj" fmla="val 3214"/>
            </a:avLst>
          </a:prstGeom>
          <a:solidFill>
            <a:srgbClr val="1A2740"/>
          </a:solidFill>
          <a:ln/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22192" y="21031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CEO</a:t>
            </a:r>
            <a:endParaRPr lang="en-US" sz="3200" dirty="0"/>
          </a:p>
        </p:txBody>
      </p:sp>
      <p:sp>
        <p:nvSpPr>
          <p:cNvPr id="12" name="Text 10"/>
          <p:cNvSpPr txBox="1"/>
          <p:nvPr/>
        </p:nvSpPr>
        <p:spPr>
          <a:xfrm>
            <a:off x="3822192" y="288036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 the strategy working?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822192" y="379476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headline, the risks, and the one decision for the board.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309360" y="1828800"/>
            <a:ext cx="2560320" cy="3611880"/>
          </a:xfrm>
          <a:prstGeom prst="roundRect">
            <a:avLst>
              <a:gd name="adj" fmla="val 3214"/>
            </a:avLst>
          </a:prstGeom>
          <a:solidFill>
            <a:srgbClr val="1E3A32"/>
          </a:solidFill>
          <a:ln/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565392" y="21031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CFO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6565392" y="288036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does the money go?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565392" y="379476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P&amp;L, fees, provisions &amp; liquidity — every dollar accounted for.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1828800"/>
            <a:ext cx="2560320" cy="3611880"/>
          </a:xfrm>
          <a:prstGeom prst="roundRect">
            <a:avLst>
              <a:gd name="adj" fmla="val 3214"/>
            </a:avLst>
          </a:prstGeom>
          <a:solidFill>
            <a:srgbClr val="2D2438"/>
          </a:solidFill>
          <a:ln/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9308592" y="210312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PM</a:t>
            </a:r>
            <a:endParaRPr lang="en-US" sz="3200" dirty="0"/>
          </a:p>
        </p:txBody>
      </p:sp>
      <p:sp>
        <p:nvSpPr>
          <p:cNvPr id="20" name="Text 18"/>
          <p:cNvSpPr txBox="1"/>
          <p:nvPr/>
        </p:nvSpPr>
        <p:spPr>
          <a:xfrm>
            <a:off x="9308592" y="2880360"/>
            <a:ext cx="204825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i="1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I trade today?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308592" y="3794760"/>
            <a:ext cx="204825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 exposure, drift &amp; specific buy/sell calls.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A27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truth. Nobody has to translate for anybody.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analysis, explained simply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512064" y="1197864"/>
            <a:ext cx="6108192" cy="4264152"/>
          </a:xfrm>
          <a:prstGeom prst="roundRect">
            <a:avLst>
              <a:gd name="adj" fmla="val 1287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6035040" cy="4191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903720" y="15544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Credit Monitor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6903720" y="2331720"/>
            <a:ext cx="292608" cy="292608"/>
          </a:xfrm>
          <a:prstGeom prst="ellipse">
            <a:avLst/>
          </a:prstGeom>
          <a:solidFill>
            <a:srgbClr val="22B8A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37744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15200" y="228600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IFRS 9 credit staging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7315200" y="263347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Default probability, WARF rating, and Stage-3 impairment — computed and gauged live.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903720" y="3566160"/>
            <a:ext cx="292608" cy="292608"/>
          </a:xfrm>
          <a:prstGeom prst="ellipse">
            <a:avLst/>
          </a:prstGeom>
          <a:solidFill>
            <a:srgbClr val="22B8A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3611880"/>
            <a:ext cx="201168" cy="20116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315200" y="35204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Plain-English framing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7315200" y="386791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gauge comes with what it means and the action it implies — 'exit fragile holdings to bring PD below the green zone.'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903720" y="4800600"/>
            <a:ext cx="292608" cy="292608"/>
          </a:xfrm>
          <a:prstGeom prst="ellipse">
            <a:avLst/>
          </a:prstGeom>
          <a:solidFill>
            <a:srgbClr val="22B8A8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0" y="4846320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0" y="4754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Institutional depth</a:t>
            </a:r>
            <a:endParaRPr lang="en-US" sz="1400" dirty="0"/>
          </a:p>
        </p:txBody>
      </p:sp>
      <p:sp>
        <p:nvSpPr>
          <p:cNvPr id="19" name="Text 13"/>
          <p:cNvSpPr txBox="1"/>
          <p:nvPr/>
        </p:nvSpPr>
        <p:spPr>
          <a:xfrm>
            <a:off x="7315200" y="5102352"/>
            <a:ext cx="4297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Concentration limits, leverage, macro &amp; sovereign — the analysis a real credit desk runs.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market intelligence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2706624" y="1197864"/>
            <a:ext cx="6748272" cy="4708652"/>
          </a:xfrm>
          <a:prstGeom prst="roundRect">
            <a:avLst>
              <a:gd name="adj" fmla="val 1165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177800" dist="63500" dir="5400000">
              <a:srgbClr val="1A2740">
                <a:alpha val="2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1234440"/>
            <a:ext cx="6675120" cy="46355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6419088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alpha, rate monitoring, and a live ETL pipeline from six data providers — with the same story-first framing on top.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even demos itself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0972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Built-in onboarding that doubles as a hands-free product demo.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22960" y="21031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2D446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188720" y="2468880"/>
            <a:ext cx="822960" cy="822960"/>
          </a:xfrm>
          <a:prstGeom prst="ellipse">
            <a:avLst/>
          </a:prstGeom>
          <a:solidFill>
            <a:srgbClr val="1A274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670048"/>
            <a:ext cx="420624" cy="42062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8872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Guided Tour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118872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spotlight walkthrough highlights each area with a plain-English explanation — new users are oriented in 90 seconds.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172200" y="21031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2D4468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37960" y="2468880"/>
            <a:ext cx="822960" cy="822960"/>
          </a:xfrm>
          <a:prstGeom prst="ellipse">
            <a:avLst/>
          </a:prstGeom>
          <a:solidFill>
            <a:srgbClr val="1A274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128" y="2670048"/>
            <a:ext cx="420624" cy="42062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537960" y="34290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 Demo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6537960" y="393192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8E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click and the platform runs itself — advancing through the story, switching role lenses, with synced on-screen captions and voice narration.</a:t>
            </a:r>
            <a:endParaRPr lang="en-US" sz="1250" dirty="0"/>
          </a:p>
        </p:txBody>
      </p:sp>
      <p:sp>
        <p:nvSpPr>
          <p:cNvPr id="16" name="Text 12"/>
          <p:cNvSpPr txBox="1"/>
          <p:nvPr/>
        </p:nvSpPr>
        <p:spPr>
          <a:xfrm>
            <a:off x="822960" y="5257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a self-running booth, a recorded walkthrough, or a first-time user — the product sells itself.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457200" cy="457200"/>
          </a:xfrm>
          <a:prstGeom prst="ellipse">
            <a:avLst/>
          </a:prstGeom>
          <a:solidFill>
            <a:srgbClr val="C8A24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2920" y="457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27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457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A181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changes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2057400"/>
            <a:ext cx="640080" cy="640080"/>
          </a:xfrm>
          <a:prstGeom prst="ellipse">
            <a:avLst/>
          </a:prstGeom>
          <a:solidFill>
            <a:srgbClr val="F2EFE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2728" y="22128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920240" y="2057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 a day → one click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1920240" y="2651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board memo, a risk read, a daily report — work that took an analyst hours is now instant.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73736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46520" y="2057400"/>
            <a:ext cx="640080" cy="640080"/>
          </a:xfrm>
          <a:prstGeom prst="ellipse">
            <a:avLst/>
          </a:prstGeom>
          <a:solidFill>
            <a:srgbClr val="F2EF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1968" y="22128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269480" y="2057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Everyone, aligned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7269480" y="265176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Pro, CEO, CFO, and PM act from one source of truth, each in their own language.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22960" y="37033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1097280" y="4023360"/>
            <a:ext cx="640080" cy="640080"/>
          </a:xfrm>
          <a:prstGeom prst="ellipse">
            <a:avLst/>
          </a:prstGeom>
          <a:solidFill>
            <a:srgbClr val="F2EF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2728" y="417880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92024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 without a specialist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92024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platform carries the explanation, so understanding scales to the whole team.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172200" y="3703320"/>
            <a:ext cx="512064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DDD9D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446520" y="4023360"/>
            <a:ext cx="640080" cy="640080"/>
          </a:xfrm>
          <a:prstGeom prst="ellipse">
            <a:avLst/>
          </a:prstGeom>
          <a:solidFill>
            <a:srgbClr val="F2EFE9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1968" y="417880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269480" y="402336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600" b="1" dirty="0">
                <a:solidFill>
                  <a:srgbClr val="1A18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in every number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7269480" y="46177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4A46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figure shows what it means and what's driving it — no black boxes.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828800"/>
            <a:ext cx="5943600" cy="5943600"/>
          </a:xfrm>
          <a:prstGeom prst="ellipse">
            <a:avLst/>
          </a:prstGeom>
          <a:solidFill>
            <a:srgbClr val="2D4468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3657600"/>
            <a:ext cx="4572000" cy="4572000"/>
          </a:xfrm>
          <a:prstGeom prst="ellipse">
            <a:avLst/>
          </a:prstGeom>
          <a:solidFill>
            <a:srgbClr val="2D4468">
              <a:alpha val="6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630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ETERNA · WEALTH INTELLIGENCE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920240"/>
            <a:ext cx="86868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numbers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tell a story —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every story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leads to a decision.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5074920"/>
            <a:ext cx="4297680" cy="658368"/>
          </a:xfrm>
          <a:prstGeom prst="roundRect">
            <a:avLst>
              <a:gd name="adj" fmla="val 13889"/>
            </a:avLst>
          </a:prstGeom>
          <a:solidFill>
            <a:srgbClr val="C8A24A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5221224"/>
            <a:ext cx="365760" cy="365760"/>
          </a:xfrm>
          <a:prstGeom prst="rect">
            <a:avLst/>
          </a:prstGeom>
        </p:spPr>
      </p:pic>
      <p:sp>
        <p:nvSpPr>
          <p:cNvPr id="8" name="Text 5">
            <a:hlinkClick r:id="rId2" tooltip=""/>
          </p:cNvPr>
          <p:cNvSpPr txBox="1"/>
          <p:nvPr/>
        </p:nvSpPr>
        <p:spPr>
          <a:xfrm>
            <a:off x="1481328" y="507492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u="sng" dirty="0">
                <a:solidFill>
                  <a:srgbClr val="1A274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▶  Open the live platform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58978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4C87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rkac12288-bot.github.io/AI-Platforms-/eterna-wealth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Eterna Wealth — Pitch</dc:title>
  <dc:subject>PptxGenJS Presentation</dc:subject>
  <dc:creator>Eterna Wealth</dc:creator>
  <cp:lastModifiedBy>Eterna Wealth</cp:lastModifiedBy>
  <cp:revision>1</cp:revision>
  <dcterms:created xsi:type="dcterms:W3CDTF">2026-08-31T18:20:05Z</dcterms:created>
  <dcterms:modified xsi:type="dcterms:W3CDTF">2026-08-31T18:20:05Z</dcterms:modified>
</cp:coreProperties>
</file>